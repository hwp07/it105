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e Vietnam Pro"/>
      <p:regular r:id="rId201314"/>
    </p:embeddedFont>
    <p:embeddedFont>
      <p:font typeface="Be Vietnam Pro Bold"/>
      <p:regular r:id="rId201315"/>
    </p:embeddedFont>
    <p:embeddedFont>
      <p:font typeface="JetBrains Mono"/>
      <p:regular r:id="rId201316"/>
    </p:embeddedFont>
    <p:embeddedFont>
      <p:font typeface="JetBrains Mono Medium"/>
      <p:regular r:id="rId201317"/>
    </p:embeddedFont>
    <p:embeddedFont>
      <p:font typeface="JetBrains Mono SemiBold"/>
      <p:regular r:id="rId201318"/>
    </p:embeddedFont>
    <p:embeddedFont>
      <p:font typeface="JetBrains Mono Bold"/>
      <p:regular r:id="rId201319"/>
    </p:embeddedFont>
    <p:embeddedFont>
      <p:font typeface="Noto Serif Display SemiBold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DE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55637"/>
            <a:ext cx="4648084" cy="31651"/>
          </a:xfrm>
          <a:prstGeom prst="roundRect">
            <a:avLst>
              <a:gd name="adj" fmla="val 49998"/>
            </a:avLst>
          </a:prstGeom>
          <a:solidFill>
            <a:srgbClr val="1F5FA8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1060450"/>
            <a:ext cx="525766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23" kern="0" dirty="0">
                <a:solidFill>
                  <a:srgbClr val="1F5FA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Phân tích &amp; Thiết kế Hệ thống Thông tin (OOAD)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9585" y="1326455"/>
            <a:ext cx="4648084" cy="1708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800" spc="-19" kern="0" dirty="0">
                <a:solidFill>
                  <a:srgbClr val="232323"/>
                </a:solidFill>
                <a:latin typeface="Noto Serif Display SemiBold" pitchFamily="34" charset="0"/>
                <a:ea typeface="Noto Serif Display SemiBold" pitchFamily="34" charset="-122"/>
                <a:cs typeface="Noto Serif Display SemiBold" pitchFamily="34" charset="-120"/>
              </a:rPr>
              <a:t>Hệ thống Quản lý Phòng khám Nha khoa DentCare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09585" y="5485507"/>
            <a:ext cx="4648084" cy="762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5C5C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Giảng viên hướng dẫn: [Tên Giảng Viên]</a:t>
            </a:r>
            <a:endParaRPr lang="en-US" sz="115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5C5C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Nhóm thực hiện: Nhóm [Số nhóm] – [Danh sách thành viên &amp; MSSV]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324442" y="0"/>
            <a:ext cx="5867253" cy="6858000"/>
          </a:xfrm>
          <a:prstGeom prst="rect">
            <a:avLst/>
          </a:prstGeom>
          <a:solidFill>
            <a:srgbClr val="EFEFED"/>
          </a:solidFill>
          <a:ln/>
        </p:spPr>
      </p:sp>
      <p:sp>
        <p:nvSpPr>
          <p:cNvPr id="7" name="Text 5"/>
          <p:cNvSpPr/>
          <p:nvPr/>
        </p:nvSpPr>
        <p:spPr>
          <a:xfrm>
            <a:off x="6934027" y="2370435"/>
            <a:ext cx="4648084" cy="86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7200" spc="-72" kern="0" dirty="0">
                <a:solidFill>
                  <a:srgbClr val="2E2E2E"/>
                </a:solidFill>
                <a:latin typeface="Noto Serif Display SemiBold" pitchFamily="34" charset="0"/>
                <a:ea typeface="Noto Serif Display SemiBold" pitchFamily="34" charset="-122"/>
                <a:cs typeface="Noto Serif Display SemiBold" pitchFamily="34" charset="-120"/>
              </a:rPr>
              <a:t>DentCare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6934027" y="3449340"/>
            <a:ext cx="525766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 thống Quản lý Phòng khám Nha khoa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34027" y="3952577"/>
            <a:ext cx="1533685" cy="31651"/>
          </a:xfrm>
          <a:prstGeom prst="roundRect">
            <a:avLst>
              <a:gd name="adj" fmla="val 49998"/>
            </a:avLst>
          </a:prstGeom>
          <a:solidFill>
            <a:srgbClr val="1F5FA8"/>
          </a:solidFill>
          <a:ln/>
        </p:spPr>
      </p:sp>
      <p:sp>
        <p:nvSpPr>
          <p:cNvPr id="10" name="Text 8"/>
          <p:cNvSpPr/>
          <p:nvPr/>
        </p:nvSpPr>
        <p:spPr>
          <a:xfrm>
            <a:off x="6934027" y="4201815"/>
            <a:ext cx="525766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 tích &amp; Thiết kế Hệ thống Thông tin (OOAD)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55637"/>
            <a:ext cx="7213320" cy="31651"/>
          </a:xfrm>
          <a:prstGeom prst="roundRect">
            <a:avLst>
              <a:gd name="adj" fmla="val 49998"/>
            </a:avLst>
          </a:prstGeom>
          <a:solidFill>
            <a:srgbClr val="1F5FA8"/>
          </a:solidFill>
          <a:ln/>
        </p:spPr>
      </p:sp>
      <p:sp>
        <p:nvSpPr>
          <p:cNvPr id="3" name="Text 1"/>
          <p:cNvSpPr/>
          <p:nvPr/>
        </p:nvSpPr>
        <p:spPr>
          <a:xfrm>
            <a:off x="7975400" y="609600"/>
            <a:ext cx="36067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150" spc="23" kern="0" dirty="0">
                <a:solidFill>
                  <a:srgbClr val="1F5FA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DentCare · OOAD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9585" y="926405"/>
            <a:ext cx="10972526" cy="50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spc="-17" kern="0" dirty="0">
                <a:solidFill>
                  <a:srgbClr val="232323"/>
                </a:solidFill>
                <a:latin typeface="Noto Serif Display SemiBold" pitchFamily="34" charset="0"/>
                <a:ea typeface="Noto Serif Display SemiBold" pitchFamily="34" charset="-122"/>
                <a:cs typeface="Noto Serif Display SemiBold" pitchFamily="34" charset="-120"/>
              </a:rPr>
              <a:t>Đặt vấn đề &amp; Mục tiêu Hệ thống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854994"/>
            <a:ext cx="5308467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Hiện trạng phòng khám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09585" y="2305149"/>
            <a:ext cx="53084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 lý thủ công (sổ tay, hóa đơn giấy) → dễ trùng lịch nha sĩ, thất lạc bệnh án, sai sót doanh thu.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73643" y="1854994"/>
            <a:ext cx="5308467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 tiêu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273643" y="2305149"/>
            <a:ext cx="53084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 hóa toàn diện quy trình Đặt lịch – Khám bệnh – Thanh toán – Báo cáo.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9585" y="3937397"/>
            <a:ext cx="10972526" cy="2311003"/>
          </a:xfrm>
          <a:custGeom>
            <a:avLst/>
            <a:gdLst/>
            <a:ahLst/>
            <a:cxnLst/>
            <a:rect l="l" t="t" r="r" b="b"/>
            <a:pathLst>
              <a:path w="10972526" h="2311003">
                <a:moveTo>
                  <a:pt x="0" y="0"/>
                </a:moveTo>
                <a:lnTo>
                  <a:pt x="10972526" y="0"/>
                </a:lnTo>
                <a:lnTo>
                  <a:pt x="10972526" y="2301478"/>
                </a:lnTo>
                <a:arcTo hR="9525" wR="9525" stAng="0" swAng="5400000"/>
                <a:lnTo>
                  <a:pt x="9525" y="2311003"/>
                </a:lnTo>
                <a:arcTo hR="9525" wR="9525" stAng="5400000" swAng="5400000"/>
                <a:lnTo>
                  <a:pt x="0" y="0"/>
                </a:lnTo>
                <a:close/>
              </a:path>
            </a:pathLst>
          </a:custGeom>
          <a:solidFill>
            <a:srgbClr val="EFEFED"/>
          </a:solidFill>
          <a:ln/>
        </p:spPr>
      </p:sp>
      <p:sp>
        <p:nvSpPr>
          <p:cNvPr id="10" name="Text 8"/>
          <p:cNvSpPr/>
          <p:nvPr/>
        </p:nvSpPr>
        <p:spPr>
          <a:xfrm>
            <a:off x="838179" y="4165997"/>
            <a:ext cx="10515337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 loại HTTT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38179" y="4616152"/>
            <a:ext cx="1051533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thuộc nhóm TPS (Transaction Processing System) – hệ thống xử lý giao dịch thường nhật, đòi hỏi tính nhất quán và toàn vẹn dữ liệu cao.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89498" y="1626394"/>
            <a:ext cx="12700" cy="2311003"/>
          </a:xfrm>
          <a:prstGeom prst="rect">
            <a:avLst/>
          </a:prstGeom>
          <a:solidFill>
            <a:srgbClr val="C9C9C6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585" y="3931047"/>
            <a:ext cx="10972526" cy="12700"/>
          </a:xfrm>
          <a:prstGeom prst="rect">
            <a:avLst/>
          </a:prstGeom>
          <a:solidFill>
            <a:srgbClr val="C9C9C6"/>
          </a:solidFill>
          <a:ln/>
        </p:spPr>
      </p:sp>
      <p:sp>
        <p:nvSpPr>
          <p:cNvPr id="14" name="Text 12"/>
          <p:cNvSpPr/>
          <p:nvPr/>
        </p:nvSpPr>
        <p:spPr>
          <a:xfrm>
            <a:off x="10968656" y="6494463"/>
            <a:ext cx="122303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10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55637"/>
            <a:ext cx="7213320" cy="31651"/>
          </a:xfrm>
          <a:prstGeom prst="roundRect">
            <a:avLst>
              <a:gd name="adj" fmla="val 49998"/>
            </a:avLst>
          </a:prstGeom>
          <a:solidFill>
            <a:srgbClr val="1F5FA8"/>
          </a:solidFill>
          <a:ln/>
        </p:spPr>
      </p:sp>
      <p:sp>
        <p:nvSpPr>
          <p:cNvPr id="3" name="Text 1"/>
          <p:cNvSpPr/>
          <p:nvPr/>
        </p:nvSpPr>
        <p:spPr>
          <a:xfrm>
            <a:off x="7975400" y="609600"/>
            <a:ext cx="36067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150" spc="23" kern="0" dirty="0">
                <a:solidFill>
                  <a:srgbClr val="1F5FA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DentCare · OOAD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9585" y="926405"/>
            <a:ext cx="10972526" cy="50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spc="-17" kern="0" dirty="0">
                <a:solidFill>
                  <a:srgbClr val="232323"/>
                </a:solidFill>
                <a:latin typeface="Noto Serif Display SemiBold" pitchFamily="34" charset="0"/>
                <a:ea typeface="Noto Serif Display SemiBold" pitchFamily="34" charset="-122"/>
                <a:cs typeface="Noto Serif Display SemiBold" pitchFamily="34" charset="-120"/>
              </a:rPr>
              <a:t>5 Thành phần HTTT &amp; Mô hình SDLC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854994"/>
            <a:ext cx="6400640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 Thành phần HTTT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09585" y="2337197"/>
            <a:ext cx="72388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1F5FA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01677" y="2305149"/>
            <a:ext cx="2730332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 cứng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01677" y="2722265"/>
            <a:ext cx="273033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 trạm Lễ tân/Nha sĩ, máy in hóa đơn, Cloud Server.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87601" y="2337197"/>
            <a:ext cx="72388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1F5FA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79694" y="2305149"/>
            <a:ext cx="2730432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 mềm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279694" y="2722265"/>
            <a:ext cx="273043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 App/Mobile App, CSDL quan hệ.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9585" y="3681413"/>
            <a:ext cx="72388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1F5FA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01677" y="3649365"/>
            <a:ext cx="2730332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01677" y="4066480"/>
            <a:ext cx="273033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hồ sơ bệnh nhân, lịch hẹn, bệnh án, hóa đơn dịch vụ.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87601" y="3681413"/>
            <a:ext cx="72388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1F5FA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79694" y="3649365"/>
            <a:ext cx="2730432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 trình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279694" y="4066480"/>
            <a:ext cx="273043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Đón tiếp → Khám &amp; Chẩn đoán → Thanh toán → Lưu trữ.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9585" y="5311378"/>
            <a:ext cx="72388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1F5FA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1677" y="5279330"/>
            <a:ext cx="6108448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 người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01677" y="5696446"/>
            <a:ext cx="610844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Bệnh nhân, Lễ tân, Nha sĩ, Quản lý.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314918" y="1626394"/>
            <a:ext cx="4267192" cy="4622006"/>
          </a:xfrm>
          <a:prstGeom prst="rect">
            <a:avLst/>
          </a:prstGeom>
          <a:solidFill>
            <a:srgbClr val="EFEFED"/>
          </a:solidFill>
          <a:ln/>
        </p:spPr>
      </p:sp>
      <p:sp>
        <p:nvSpPr>
          <p:cNvPr id="22" name="Text 20"/>
          <p:cNvSpPr/>
          <p:nvPr/>
        </p:nvSpPr>
        <p:spPr>
          <a:xfrm>
            <a:off x="7543512" y="2664321"/>
            <a:ext cx="3810004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 hình SDLC: Agile/Scrum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543512" y="3114477"/>
            <a:ext cx="1168371" cy="56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Sprint ngắn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864279" y="3114477"/>
            <a:ext cx="1168371" cy="841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 lịch &amp; Khám bệnh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0185046" y="3114477"/>
            <a:ext cx="1168371" cy="56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 hồi nghiệp vụ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543512" y="4067373"/>
            <a:ext cx="38100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Lý do: chia theo các Sprint ngắn để sớm hoàn thiện module Đặt lịch &amp; Khám bệnh, linh hoạt nhận phản hồi từ nha sĩ và lễ tân để tinh chỉnh nghiệp vụ.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803456" y="2305149"/>
            <a:ext cx="12700" cy="1166416"/>
          </a:xfrm>
          <a:prstGeom prst="rect">
            <a:avLst/>
          </a:prstGeom>
          <a:solidFill>
            <a:srgbClr val="C9C9C6"/>
          </a:solidFill>
          <a:ln/>
        </p:spPr>
      </p:sp>
      <p:sp>
        <p:nvSpPr>
          <p:cNvPr id="28" name="Shape 26"/>
          <p:cNvSpPr/>
          <p:nvPr/>
        </p:nvSpPr>
        <p:spPr>
          <a:xfrm>
            <a:off x="609585" y="3465215"/>
            <a:ext cx="3200221" cy="12700"/>
          </a:xfrm>
          <a:prstGeom prst="rect">
            <a:avLst/>
          </a:prstGeom>
          <a:solidFill>
            <a:srgbClr val="C9C9C6"/>
          </a:solidFill>
          <a:ln/>
        </p:spPr>
      </p:sp>
      <p:sp>
        <p:nvSpPr>
          <p:cNvPr id="29" name="Shape 27"/>
          <p:cNvSpPr/>
          <p:nvPr/>
        </p:nvSpPr>
        <p:spPr>
          <a:xfrm>
            <a:off x="3803456" y="3471565"/>
            <a:ext cx="12700" cy="1629966"/>
          </a:xfrm>
          <a:prstGeom prst="rect">
            <a:avLst/>
          </a:prstGeom>
          <a:solidFill>
            <a:srgbClr val="C9C9C6"/>
          </a:solidFill>
          <a:ln/>
        </p:spPr>
      </p:sp>
      <p:sp>
        <p:nvSpPr>
          <p:cNvPr id="30" name="Shape 28"/>
          <p:cNvSpPr/>
          <p:nvPr/>
        </p:nvSpPr>
        <p:spPr>
          <a:xfrm>
            <a:off x="3809805" y="3465215"/>
            <a:ext cx="3200320" cy="12700"/>
          </a:xfrm>
          <a:prstGeom prst="rect">
            <a:avLst/>
          </a:prstGeom>
          <a:solidFill>
            <a:srgbClr val="C9C9C6"/>
          </a:solidFill>
          <a:ln/>
        </p:spPr>
      </p:sp>
      <p:sp>
        <p:nvSpPr>
          <p:cNvPr id="31" name="Shape 29"/>
          <p:cNvSpPr/>
          <p:nvPr/>
        </p:nvSpPr>
        <p:spPr>
          <a:xfrm>
            <a:off x="609585" y="5095180"/>
            <a:ext cx="6400541" cy="12700"/>
          </a:xfrm>
          <a:prstGeom prst="rect">
            <a:avLst/>
          </a:prstGeom>
          <a:solidFill>
            <a:srgbClr val="C9C9C6"/>
          </a:solidFill>
          <a:ln/>
        </p:spPr>
      </p:sp>
      <p:sp>
        <p:nvSpPr>
          <p:cNvPr id="32" name="Text 30"/>
          <p:cNvSpPr/>
          <p:nvPr/>
        </p:nvSpPr>
        <p:spPr>
          <a:xfrm>
            <a:off x="10968656" y="6494463"/>
            <a:ext cx="122303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10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55637"/>
            <a:ext cx="7213320" cy="31651"/>
          </a:xfrm>
          <a:prstGeom prst="roundRect">
            <a:avLst>
              <a:gd name="adj" fmla="val 49998"/>
            </a:avLst>
          </a:prstGeom>
          <a:solidFill>
            <a:srgbClr val="1F5FA8"/>
          </a:solidFill>
          <a:ln/>
        </p:spPr>
      </p:sp>
      <p:sp>
        <p:nvSpPr>
          <p:cNvPr id="3" name="Text 1"/>
          <p:cNvSpPr/>
          <p:nvPr/>
        </p:nvSpPr>
        <p:spPr>
          <a:xfrm>
            <a:off x="7975400" y="609600"/>
            <a:ext cx="36067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150" spc="23" kern="0" dirty="0">
                <a:solidFill>
                  <a:srgbClr val="1F5FA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DentCare · OOAD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9585" y="926405"/>
            <a:ext cx="10972526" cy="50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spc="-17" kern="0" dirty="0">
                <a:solidFill>
                  <a:srgbClr val="232323"/>
                </a:solidFill>
                <a:latin typeface="Noto Serif Display SemiBold" pitchFamily="34" charset="0"/>
                <a:ea typeface="Noto Serif Display SemiBold" pitchFamily="34" charset="-122"/>
                <a:cs typeface="Noto Serif Display SemiBold" pitchFamily="34" charset="-120"/>
              </a:rPr>
              <a:t>Thu thập yêu cầu &amp; User Stories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626394"/>
            <a:ext cx="4206075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Kỹ thuật thu thập theo Stakeholder</a:t>
            </a:r>
            <a:endParaRPr lang="en-US" sz="1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13446"/>
            <a:ext cx="380990" cy="381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2971" y="2076549"/>
            <a:ext cx="3672689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Bệnh nhân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42971" y="2493665"/>
            <a:ext cx="367268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khảo sát nhu cầu đặt lịch qua biểu mẫu (Survey).</a:t>
            </a:r>
            <a:endParaRPr lang="en-US" sz="15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3459262"/>
            <a:ext cx="380990" cy="381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2971" y="3522365"/>
            <a:ext cx="3672689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Lễ tân &amp; Nha sĩ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142971" y="3939480"/>
            <a:ext cx="367268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phỏng vấn sâu (Interview) và quan sát trực tiếp quy trình khám, xuất phiếu.</a:t>
            </a:r>
            <a:endParaRPr lang="en-US" sz="15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905077"/>
            <a:ext cx="380990" cy="381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2971" y="4968180"/>
            <a:ext cx="3672689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 lý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142971" y="5385296"/>
            <a:ext cx="367268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phỏng vấn về chỉ số báo cáo doanh thu và danh mục dịch vụ.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272749" y="1626394"/>
            <a:ext cx="6309361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User Stories trọng tâm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5272749" y="2108597"/>
            <a:ext cx="72388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1F5FA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5564842" y="2076549"/>
            <a:ext cx="6017268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US01 (Lễ tân)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5564842" y="2493665"/>
            <a:ext cx="601726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 Lễ tân, tôi muốn tra cứu slot trống và đặt lịch cho bệnh nhân, để lịch khám của nha sĩ không bị trùng.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272749" y="3452813"/>
            <a:ext cx="72388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1F5FA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564842" y="3420765"/>
            <a:ext cx="6017268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US02 (Nha sĩ)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5564842" y="3837880"/>
            <a:ext cx="601726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 Nha sĩ, tôi muốn cập nhật hồ sơ điều trị ngay trên hệ thống, để lưu lịch sử bệnh án và tự động chuyển hóa đơn thu phí.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5272749" y="4797028"/>
            <a:ext cx="72388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1F5FA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5564842" y="4764980"/>
            <a:ext cx="6017268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US03 (Quản lý)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5564842" y="5182096"/>
            <a:ext cx="601726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 Quản lý, tôi muốn xem báo cáo doanh thu theo tháng, để nắm bắt tình hình tài chính của phòng khám.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5272749" y="3236615"/>
            <a:ext cx="6309361" cy="12700"/>
          </a:xfrm>
          <a:prstGeom prst="rect">
            <a:avLst/>
          </a:prstGeom>
          <a:solidFill>
            <a:srgbClr val="C9C9C6"/>
          </a:solidFill>
          <a:ln/>
        </p:spPr>
      </p:sp>
      <p:sp>
        <p:nvSpPr>
          <p:cNvPr id="26" name="Shape 21"/>
          <p:cNvSpPr/>
          <p:nvPr/>
        </p:nvSpPr>
        <p:spPr>
          <a:xfrm>
            <a:off x="5272749" y="4580830"/>
            <a:ext cx="6309361" cy="12700"/>
          </a:xfrm>
          <a:prstGeom prst="rect">
            <a:avLst/>
          </a:prstGeom>
          <a:solidFill>
            <a:srgbClr val="C9C9C6"/>
          </a:solidFill>
          <a:ln/>
        </p:spPr>
      </p:sp>
      <p:sp>
        <p:nvSpPr>
          <p:cNvPr id="27" name="Text 22"/>
          <p:cNvSpPr/>
          <p:nvPr/>
        </p:nvSpPr>
        <p:spPr>
          <a:xfrm>
            <a:off x="10968656" y="6494463"/>
            <a:ext cx="122303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10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55637"/>
            <a:ext cx="7213320" cy="31651"/>
          </a:xfrm>
          <a:prstGeom prst="roundRect">
            <a:avLst>
              <a:gd name="adj" fmla="val 49998"/>
            </a:avLst>
          </a:prstGeom>
          <a:solidFill>
            <a:srgbClr val="1F5FA8"/>
          </a:solidFill>
          <a:ln/>
        </p:spPr>
      </p:sp>
      <p:sp>
        <p:nvSpPr>
          <p:cNvPr id="3" name="Text 1"/>
          <p:cNvSpPr/>
          <p:nvPr/>
        </p:nvSpPr>
        <p:spPr>
          <a:xfrm>
            <a:off x="7975400" y="609600"/>
            <a:ext cx="36067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150" spc="23" kern="0" dirty="0">
                <a:solidFill>
                  <a:srgbClr val="1F5FA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DentCare · OOAD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9585" y="926405"/>
            <a:ext cx="10972526" cy="50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spc="-17" kern="0" dirty="0">
                <a:solidFill>
                  <a:srgbClr val="232323"/>
                </a:solidFill>
                <a:latin typeface="Noto Serif Display SemiBold" pitchFamily="34" charset="0"/>
                <a:ea typeface="Noto Serif Display SemiBold" pitchFamily="34" charset="-122"/>
                <a:cs typeface="Noto Serif Display SemiBold" pitchFamily="34" charset="-120"/>
              </a:rPr>
              <a:t>Activity Diagram – Đặt lịch &amp; Khám - Thanh toán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626394"/>
            <a:ext cx="5257668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 Đặt lịch hẹn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09585" y="2076549"/>
            <a:ext cx="5257668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Bệnh nhân gửi yêu cầu → Lễ tân kiểm tra slot theo Nha sĩ &amp; Ngày.</a:t>
            </a:r>
            <a:endParaRPr lang="en-US" sz="1500" dirty="0"/>
          </a:p>
          <a:p>
            <a:pPr algn="l" marL="304800" indent="-3048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Decision Node: nếu trống → tạo lịch hẹn ("Đã xác nhận"). Nếu kín → đề xuất khung giờ khác.</a:t>
            </a:r>
            <a:endParaRPr lang="en-US" sz="1500" dirty="0"/>
          </a:p>
          <a:p>
            <a:pPr algn="l" marL="304800" indent="-3048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Ràng buộc: một timeSlot của 1 Nha sĩ trong 1 ngày chỉ có tối đa 1 lịch "Đã xác nhận".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24442" y="1626394"/>
            <a:ext cx="5257668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 Khám bệnh &amp; Thanh toán (Swimlanes)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324442" y="2076549"/>
            <a:ext cx="5257668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Nha sĩ: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24442" y="2493665"/>
            <a:ext cx="525766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khám, chẩn đoán → ghi nhận hồ sơ điều trị (MedicalRecord).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24442" y="3420765"/>
            <a:ext cx="5257668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Lễ tân: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24442" y="3837880"/>
            <a:ext cx="525766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 hồ sơ → tạo hóa đơn (Invoice) → thu tiền và in biên lai.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24442" y="4764980"/>
            <a:ext cx="5257668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Bệnh nhân: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24442" y="5182096"/>
            <a:ext cx="525766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tiếp nhận điều trị → thanh toán tiền (tiền mặt/chuyển khoản).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24442" y="3236615"/>
            <a:ext cx="5257668" cy="12700"/>
          </a:xfrm>
          <a:prstGeom prst="rect">
            <a:avLst/>
          </a:prstGeom>
          <a:solidFill>
            <a:srgbClr val="C9C9C6"/>
          </a:solidFill>
          <a:ln/>
        </p:spPr>
      </p:sp>
      <p:sp>
        <p:nvSpPr>
          <p:cNvPr id="15" name="Shape 13"/>
          <p:cNvSpPr/>
          <p:nvPr/>
        </p:nvSpPr>
        <p:spPr>
          <a:xfrm>
            <a:off x="6324442" y="4580830"/>
            <a:ext cx="5257668" cy="12700"/>
          </a:xfrm>
          <a:prstGeom prst="rect">
            <a:avLst/>
          </a:prstGeom>
          <a:solidFill>
            <a:srgbClr val="C9C9C6"/>
          </a:solidFill>
          <a:ln/>
        </p:spPr>
      </p:sp>
      <p:sp>
        <p:nvSpPr>
          <p:cNvPr id="16" name="Text 14"/>
          <p:cNvSpPr/>
          <p:nvPr/>
        </p:nvSpPr>
        <p:spPr>
          <a:xfrm>
            <a:off x="10968656" y="6494463"/>
            <a:ext cx="122303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10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55637"/>
            <a:ext cx="7213320" cy="31651"/>
          </a:xfrm>
          <a:prstGeom prst="roundRect">
            <a:avLst>
              <a:gd name="adj" fmla="val 49998"/>
            </a:avLst>
          </a:prstGeom>
          <a:solidFill>
            <a:srgbClr val="1F5FA8"/>
          </a:solidFill>
          <a:ln/>
        </p:spPr>
      </p:sp>
      <p:sp>
        <p:nvSpPr>
          <p:cNvPr id="3" name="Text 1"/>
          <p:cNvSpPr/>
          <p:nvPr/>
        </p:nvSpPr>
        <p:spPr>
          <a:xfrm>
            <a:off x="7975400" y="609600"/>
            <a:ext cx="36067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150" spc="23" kern="0" dirty="0">
                <a:solidFill>
                  <a:srgbClr val="1F5FA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DentCare · OOAD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9585" y="1126430"/>
            <a:ext cx="10972526" cy="50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spc="-17" kern="0" dirty="0">
                <a:solidFill>
                  <a:srgbClr val="232323"/>
                </a:solidFill>
                <a:latin typeface="Noto Serif Display SemiBold" pitchFamily="34" charset="0"/>
                <a:ea typeface="Noto Serif Display SemiBold" pitchFamily="34" charset="-122"/>
                <a:cs typeface="Noto Serif Display SemiBold" pitchFamily="34" charset="-120"/>
              </a:rPr>
              <a:t>Use Case Diagram &amp; Đặc tả "Đặt lịch hẹn"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09585" y="1826419"/>
            <a:ext cx="3555911" cy="5071368"/>
          </a:xfrm>
          <a:prstGeom prst="rect">
            <a:avLst/>
          </a:prstGeom>
          <a:solidFill>
            <a:srgbClr val="EFEFED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2055019"/>
            <a:ext cx="3098722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 thể Use Case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38179" y="2505174"/>
            <a:ext cx="309872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 Actor: Bệnh nhân, Lễ tân, Nha sĩ, Quản lý.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38179" y="3233837"/>
            <a:ext cx="3098623" cy="31651"/>
          </a:xfrm>
          <a:prstGeom prst="roundRect">
            <a:avLst>
              <a:gd name="adj" fmla="val 49998"/>
            </a:avLst>
          </a:prstGeom>
          <a:solidFill>
            <a:srgbClr val="C9C9C6"/>
          </a:solidFill>
          <a:ln/>
        </p:spPr>
      </p:sp>
      <p:sp>
        <p:nvSpPr>
          <p:cNvPr id="9" name="Text 7"/>
          <p:cNvSpPr/>
          <p:nvPr/>
        </p:nvSpPr>
        <p:spPr>
          <a:xfrm>
            <a:off x="838179" y="3422749"/>
            <a:ext cx="309872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 hệ &lt;&lt;include&gt;&gt;: Thanh toán bắt buộc &lt;&lt;include&gt;&gt; Tạo hóa đơn.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38179" y="4437162"/>
            <a:ext cx="3098623" cy="31651"/>
          </a:xfrm>
          <a:prstGeom prst="roundRect">
            <a:avLst>
              <a:gd name="adj" fmla="val 49998"/>
            </a:avLst>
          </a:prstGeom>
          <a:solidFill>
            <a:srgbClr val="C9C9C6"/>
          </a:solidFill>
          <a:ln/>
        </p:spPr>
      </p:sp>
      <p:sp>
        <p:nvSpPr>
          <p:cNvPr id="11" name="Text 9"/>
          <p:cNvSpPr/>
          <p:nvPr/>
        </p:nvSpPr>
        <p:spPr>
          <a:xfrm>
            <a:off x="838179" y="4626074"/>
            <a:ext cx="309872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 hệ &lt;&lt;extend&gt;&gt;: Đặt lịch hẹn được &lt;&lt;extend&gt;&gt; bởi Gửi SMS nhắc hẹn.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70288" y="2055019"/>
            <a:ext cx="7111822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Đặc tả Use Case "Đặt lịch hẹn"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470288" y="2537222"/>
            <a:ext cx="72388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1F5FA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62381" y="2505174"/>
            <a:ext cx="6819729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Actor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62381" y="2922290"/>
            <a:ext cx="681972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Bệnh nhân, Lễ tân.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70288" y="3595688"/>
            <a:ext cx="72388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1F5FA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62381" y="3563640"/>
            <a:ext cx="6819729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Tiền điều kiện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62381" y="3980755"/>
            <a:ext cx="681972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Bệnh nhân đã có thông tin; Nha sĩ có lịch làm việc trong ngày.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70288" y="4654153"/>
            <a:ext cx="72388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1F5FA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62381" y="4622105"/>
            <a:ext cx="6819729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 chính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762381" y="5039221"/>
            <a:ext cx="681972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 nha sĩ &amp; giờ khám → hệ thống kiểm tra slot khả dụng → ghi nhận lịch hẹn → thông báo thành công.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470288" y="5998369"/>
            <a:ext cx="72388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1F5FA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62381" y="5966321"/>
            <a:ext cx="6819729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 thay thế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762381" y="6383437"/>
            <a:ext cx="681972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bị trùng slot → hệ thống cảnh báo và gợi ý các khung giờ trống kế tiếp.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470288" y="3379490"/>
            <a:ext cx="7111822" cy="12700"/>
          </a:xfrm>
          <a:prstGeom prst="rect">
            <a:avLst/>
          </a:prstGeom>
          <a:solidFill>
            <a:srgbClr val="C9C9C6"/>
          </a:solidFill>
          <a:ln/>
        </p:spPr>
      </p:sp>
      <p:sp>
        <p:nvSpPr>
          <p:cNvPr id="26" name="Shape 24"/>
          <p:cNvSpPr/>
          <p:nvPr/>
        </p:nvSpPr>
        <p:spPr>
          <a:xfrm>
            <a:off x="4470288" y="4437955"/>
            <a:ext cx="7111822" cy="12700"/>
          </a:xfrm>
          <a:prstGeom prst="rect">
            <a:avLst/>
          </a:prstGeom>
          <a:solidFill>
            <a:srgbClr val="C9C9C6"/>
          </a:solidFill>
          <a:ln/>
        </p:spPr>
      </p:sp>
      <p:sp>
        <p:nvSpPr>
          <p:cNvPr id="27" name="Shape 25"/>
          <p:cNvSpPr/>
          <p:nvPr/>
        </p:nvSpPr>
        <p:spPr>
          <a:xfrm>
            <a:off x="4470288" y="5782171"/>
            <a:ext cx="7111822" cy="12700"/>
          </a:xfrm>
          <a:prstGeom prst="rect">
            <a:avLst/>
          </a:prstGeom>
          <a:solidFill>
            <a:srgbClr val="C9C9C6"/>
          </a:solidFill>
          <a:ln/>
        </p:spPr>
      </p:sp>
      <p:sp>
        <p:nvSpPr>
          <p:cNvPr id="28" name="Text 26"/>
          <p:cNvSpPr/>
          <p:nvPr/>
        </p:nvSpPr>
        <p:spPr>
          <a:xfrm>
            <a:off x="10968656" y="6494463"/>
            <a:ext cx="122303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10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55637"/>
            <a:ext cx="7213320" cy="31651"/>
          </a:xfrm>
          <a:prstGeom prst="roundRect">
            <a:avLst>
              <a:gd name="adj" fmla="val 49998"/>
            </a:avLst>
          </a:prstGeom>
          <a:solidFill>
            <a:srgbClr val="1F5FA8"/>
          </a:solidFill>
          <a:ln/>
        </p:spPr>
      </p:sp>
      <p:sp>
        <p:nvSpPr>
          <p:cNvPr id="3" name="Text 1"/>
          <p:cNvSpPr/>
          <p:nvPr/>
        </p:nvSpPr>
        <p:spPr>
          <a:xfrm>
            <a:off x="7975400" y="609600"/>
            <a:ext cx="36067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150" spc="23" kern="0" dirty="0">
                <a:solidFill>
                  <a:srgbClr val="1F5FA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DentCare · OOAD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9585" y="926405"/>
            <a:ext cx="10972526" cy="50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spc="-17" kern="0" dirty="0">
                <a:solidFill>
                  <a:srgbClr val="232323"/>
                </a:solidFill>
                <a:latin typeface="Noto Serif Display SemiBold" pitchFamily="34" charset="0"/>
                <a:ea typeface="Noto Serif Display SemiBold" pitchFamily="34" charset="-122"/>
                <a:cs typeface="Noto Serif Display SemiBold" pitchFamily="34" charset="-120"/>
              </a:rPr>
              <a:t>Class Diagram – Thiết kế Cấu trúc tĩnh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626394"/>
            <a:ext cx="5257668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Mối quan hệ &amp; Multiplicity</a:t>
            </a:r>
            <a:endParaRPr lang="en-US" sz="1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076549"/>
          <a:ext cx="9143771" cy="914400"/>
        </p:xfrm>
        <a:graphic>
          <a:graphicData uri="http://schemas.openxmlformats.org/drawingml/2006/table">
            <a:tbl>
              <a:tblPr/>
              <a:tblGrid>
                <a:gridCol w="5257669"/>
              </a:tblGrid>
              <a:tr h="406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Patient (1) ─── (0..*) Appointment ─── (1) Dentist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Appointment (1) ─── (1) MedicalRecord ─── (1) Invoice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09585" y="3054449"/>
            <a:ext cx="5257668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Composition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09585" y="3504605"/>
            <a:ext cx="525766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Invoice ◆── (1..*) InvoiceDetail (hóa đơn bị hủy thì chi tiết hóa đơn không thể đứng một mình).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324442" y="1626394"/>
            <a:ext cx="5257668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 thừa (Inheritance/Generalization)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324442" y="2076549"/>
            <a:ext cx="525766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 trừu tượng PaymentMethod → 2 lớp con: CashPayment (tiền mặt) và TransferPayment (chuyển khoản).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324442" y="3105249"/>
            <a:ext cx="5257668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 tắc khóa ngoại &amp; Dữ liệu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324442" y="3555405"/>
            <a:ext cx="525766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 mã ID duy nhất toàn hệ thống; không được xóa cứng Patient nhằm bảo toàn lịch sử y bạ.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968656" y="6494463"/>
            <a:ext cx="122303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10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55637"/>
            <a:ext cx="7213320" cy="31651"/>
          </a:xfrm>
          <a:prstGeom prst="roundRect">
            <a:avLst>
              <a:gd name="adj" fmla="val 49998"/>
            </a:avLst>
          </a:prstGeom>
          <a:solidFill>
            <a:srgbClr val="1F5FA8"/>
          </a:solidFill>
          <a:ln/>
        </p:spPr>
      </p:sp>
      <p:sp>
        <p:nvSpPr>
          <p:cNvPr id="3" name="Text 1"/>
          <p:cNvSpPr/>
          <p:nvPr/>
        </p:nvSpPr>
        <p:spPr>
          <a:xfrm>
            <a:off x="7975400" y="609600"/>
            <a:ext cx="36067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150" spc="23" kern="0" dirty="0">
                <a:solidFill>
                  <a:srgbClr val="1F5FA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DentCare · OOAD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9585" y="926405"/>
            <a:ext cx="10972526" cy="50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spc="-17" kern="0" dirty="0">
                <a:solidFill>
                  <a:srgbClr val="232323"/>
                </a:solidFill>
                <a:latin typeface="Noto Serif Display SemiBold" pitchFamily="34" charset="0"/>
                <a:ea typeface="Noto Serif Display SemiBold" pitchFamily="34" charset="-122"/>
                <a:cs typeface="Noto Serif Display SemiBold" pitchFamily="34" charset="-120"/>
              </a:rPr>
              <a:t>Sequence Diagram – Đặt lịch &amp; Hủy lịch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854994"/>
            <a:ext cx="5958631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 Đặt lịch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09585" y="2305149"/>
            <a:ext cx="280147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:BenhNhan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766646" y="2305149"/>
            <a:ext cx="2801570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:DatLichUI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09585" y="2941340"/>
            <a:ext cx="280147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:AppointmentService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766646" y="2941340"/>
            <a:ext cx="2801570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:DentistService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09585" y="3577530"/>
            <a:ext cx="595863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:CSDL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09585" y="3969246"/>
            <a:ext cx="5958631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850"/>
              </a:spcAft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 tiếp: :BenhNhan → :DatLichUI → :AppointmentService → :DentistService → :CSDL.</a:t>
            </a:r>
            <a:endParaRPr lang="en-US" sz="1500" dirty="0"/>
          </a:p>
          <a:p>
            <a:pPr algn="l" indent="0" marL="0">
              <a:lnSpc>
                <a:spcPct val="125000"/>
              </a:lnSpc>
              <a:spcAft>
                <a:spcPts val="850"/>
              </a:spcAft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 alt [Slot trống]: trả thông báo thành công (Return Message nét đứt).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 alt [Slot bận]: báo lỗi trùng giờ.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025305" y="1626394"/>
            <a:ext cx="4556805" cy="4622006"/>
          </a:xfrm>
          <a:prstGeom prst="rect">
            <a:avLst/>
          </a:prstGeom>
          <a:solidFill>
            <a:srgbClr val="EFEFED"/>
          </a:solidFill>
          <a:ln/>
        </p:spPr>
      </p:sp>
      <p:sp>
        <p:nvSpPr>
          <p:cNvPr id="13" name="Text 11"/>
          <p:cNvSpPr/>
          <p:nvPr/>
        </p:nvSpPr>
        <p:spPr>
          <a:xfrm>
            <a:off x="7253900" y="1854994"/>
            <a:ext cx="4099616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 Hủy lịch (khung alt)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253900" y="2352774"/>
            <a:ext cx="72388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1F5FA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45992" y="2305149"/>
            <a:ext cx="380752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[Trạng thái == Chờ xác nhận / Đã xác nhận]: đổi trạng thái sang "Đã hủy" → gửi thông điệp bất đồng bộ (SMS) báo cho Nha sĩ.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53900" y="3851374"/>
            <a:ext cx="72388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1F5FA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545992" y="3803749"/>
            <a:ext cx="380752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[Trạng thái == Đã khám]: hệ thống từ chối hủy.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582501" y="2305149"/>
            <a:ext cx="12700" cy="458391"/>
          </a:xfrm>
          <a:prstGeom prst="rect">
            <a:avLst/>
          </a:prstGeom>
          <a:solidFill>
            <a:srgbClr val="C9C9C6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585" y="2757190"/>
            <a:ext cx="2979266" cy="12700"/>
          </a:xfrm>
          <a:prstGeom prst="rect">
            <a:avLst/>
          </a:prstGeom>
          <a:solidFill>
            <a:srgbClr val="C9C9C6"/>
          </a:solidFill>
          <a:ln/>
        </p:spPr>
      </p:sp>
      <p:sp>
        <p:nvSpPr>
          <p:cNvPr id="20" name="Shape 18"/>
          <p:cNvSpPr/>
          <p:nvPr/>
        </p:nvSpPr>
        <p:spPr>
          <a:xfrm>
            <a:off x="3582501" y="2763540"/>
            <a:ext cx="12700" cy="636191"/>
          </a:xfrm>
          <a:prstGeom prst="rect">
            <a:avLst/>
          </a:prstGeom>
          <a:solidFill>
            <a:srgbClr val="C9C9C6"/>
          </a:solidFill>
          <a:ln/>
        </p:spPr>
      </p:sp>
      <p:sp>
        <p:nvSpPr>
          <p:cNvPr id="21" name="Shape 19"/>
          <p:cNvSpPr/>
          <p:nvPr/>
        </p:nvSpPr>
        <p:spPr>
          <a:xfrm>
            <a:off x="3588851" y="2757190"/>
            <a:ext cx="2979365" cy="12700"/>
          </a:xfrm>
          <a:prstGeom prst="rect">
            <a:avLst/>
          </a:prstGeom>
          <a:solidFill>
            <a:srgbClr val="C9C9C6"/>
          </a:solidFill>
          <a:ln/>
        </p:spPr>
      </p:sp>
      <p:sp>
        <p:nvSpPr>
          <p:cNvPr id="22" name="Shape 20"/>
          <p:cNvSpPr/>
          <p:nvPr/>
        </p:nvSpPr>
        <p:spPr>
          <a:xfrm>
            <a:off x="609585" y="3393380"/>
            <a:ext cx="5958631" cy="12700"/>
          </a:xfrm>
          <a:prstGeom prst="rect">
            <a:avLst/>
          </a:prstGeom>
          <a:solidFill>
            <a:srgbClr val="C9C9C6"/>
          </a:solidFill>
          <a:ln/>
        </p:spPr>
      </p:sp>
      <p:sp>
        <p:nvSpPr>
          <p:cNvPr id="23" name="Shape 21"/>
          <p:cNvSpPr/>
          <p:nvPr/>
        </p:nvSpPr>
        <p:spPr>
          <a:xfrm>
            <a:off x="7253900" y="3619599"/>
            <a:ext cx="4099616" cy="12700"/>
          </a:xfrm>
          <a:prstGeom prst="rect">
            <a:avLst/>
          </a:prstGeom>
          <a:solidFill>
            <a:srgbClr val="C9C9C6"/>
          </a:solidFill>
          <a:ln/>
        </p:spPr>
      </p:sp>
      <p:sp>
        <p:nvSpPr>
          <p:cNvPr id="24" name="Text 22"/>
          <p:cNvSpPr/>
          <p:nvPr/>
        </p:nvSpPr>
        <p:spPr>
          <a:xfrm>
            <a:off x="10968656" y="6494463"/>
            <a:ext cx="122303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10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55637"/>
            <a:ext cx="7213320" cy="31651"/>
          </a:xfrm>
          <a:prstGeom prst="roundRect">
            <a:avLst>
              <a:gd name="adj" fmla="val 49998"/>
            </a:avLst>
          </a:prstGeom>
          <a:solidFill>
            <a:srgbClr val="1F5FA8"/>
          </a:solidFill>
          <a:ln/>
        </p:spPr>
      </p:sp>
      <p:sp>
        <p:nvSpPr>
          <p:cNvPr id="3" name="Text 1"/>
          <p:cNvSpPr/>
          <p:nvPr/>
        </p:nvSpPr>
        <p:spPr>
          <a:xfrm>
            <a:off x="7975400" y="609600"/>
            <a:ext cx="36067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150" spc="23" kern="0" dirty="0">
                <a:solidFill>
                  <a:srgbClr val="1F5FA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DentCare · OOAD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9585" y="926405"/>
            <a:ext cx="10972526" cy="50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spc="-17" kern="0" dirty="0">
                <a:solidFill>
                  <a:srgbClr val="232323"/>
                </a:solidFill>
                <a:latin typeface="Noto Serif Display SemiBold" pitchFamily="34" charset="0"/>
                <a:ea typeface="Noto Serif Display SemiBold" pitchFamily="34" charset="-122"/>
                <a:cs typeface="Noto Serif Display SemiBold" pitchFamily="34" charset="-120"/>
              </a:rPr>
              <a:t>Sequence Diagram – Khám bệnh &amp; Tính hóa đơn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626394"/>
            <a:ext cx="1158211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Participants: :NhaSi, :KhamBenhUI, :RecordService, :InvoiceService, :CSDL.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585" y="2909094"/>
            <a:ext cx="10972526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 tương tác chính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09585" y="3359249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1F5FA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585" y="3625949"/>
            <a:ext cx="1828754" cy="19050"/>
          </a:xfrm>
          <a:prstGeom prst="rect">
            <a:avLst/>
          </a:prstGeom>
          <a:solidFill>
            <a:srgbClr val="1F5FA8"/>
          </a:solidFill>
          <a:ln/>
        </p:spPr>
      </p:sp>
      <p:sp>
        <p:nvSpPr>
          <p:cNvPr id="9" name="Text 7"/>
          <p:cNvSpPr/>
          <p:nvPr/>
        </p:nvSpPr>
        <p:spPr>
          <a:xfrm>
            <a:off x="609585" y="3822799"/>
            <a:ext cx="1828754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Nha sĩ hoàn tất khám → :RecordService lưu bệnh án (MedicalRecord).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95428" y="3359249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1F5FA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95428" y="3625949"/>
            <a:ext cx="1828754" cy="19050"/>
          </a:xfrm>
          <a:prstGeom prst="rect">
            <a:avLst/>
          </a:prstGeom>
          <a:solidFill>
            <a:srgbClr val="1F5FA8"/>
          </a:solidFill>
          <a:ln/>
        </p:spPr>
      </p:sp>
      <p:sp>
        <p:nvSpPr>
          <p:cNvPr id="12" name="Text 10"/>
          <p:cNvSpPr/>
          <p:nvPr/>
        </p:nvSpPr>
        <p:spPr>
          <a:xfrm>
            <a:off x="2895428" y="3822799"/>
            <a:ext cx="1828853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:InvoiceService tự động khởi tạo Invoice.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81371" y="3359249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1F5FA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181371" y="3625949"/>
            <a:ext cx="1828754" cy="19050"/>
          </a:xfrm>
          <a:prstGeom prst="rect">
            <a:avLst/>
          </a:prstGeom>
          <a:solidFill>
            <a:srgbClr val="1F5FA8"/>
          </a:solidFill>
          <a:ln/>
        </p:spPr>
      </p:sp>
      <p:sp>
        <p:nvSpPr>
          <p:cNvPr id="15" name="Text 13"/>
          <p:cNvSpPr/>
          <p:nvPr/>
        </p:nvSpPr>
        <p:spPr>
          <a:xfrm>
            <a:off x="5181371" y="3822799"/>
            <a:ext cx="1828853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 loop [Mỗi dịch vụ đã điều trị]: thêm dòng InvoiceDetail tương ứng.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67314" y="3359249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1F5FA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467314" y="3625949"/>
            <a:ext cx="1828754" cy="19050"/>
          </a:xfrm>
          <a:prstGeom prst="rect">
            <a:avLst/>
          </a:prstGeom>
          <a:solidFill>
            <a:srgbClr val="1F5FA8"/>
          </a:solidFill>
          <a:ln/>
        </p:spPr>
      </p:sp>
      <p:sp>
        <p:nvSpPr>
          <p:cNvPr id="18" name="Text 16"/>
          <p:cNvSpPr/>
          <p:nvPr/>
        </p:nvSpPr>
        <p:spPr>
          <a:xfrm>
            <a:off x="7467314" y="3822799"/>
            <a:ext cx="182885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Self Message: :InvoiceService tự tính tổng tiền = Σ(lineTotal).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753257" y="3359249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1F5FA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05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753257" y="3625949"/>
            <a:ext cx="1828754" cy="19050"/>
          </a:xfrm>
          <a:prstGeom prst="rect">
            <a:avLst/>
          </a:prstGeom>
          <a:solidFill>
            <a:srgbClr val="1F5FA8"/>
          </a:solidFill>
          <a:ln/>
        </p:spPr>
      </p:sp>
      <p:sp>
        <p:nvSpPr>
          <p:cNvPr id="21" name="Text 19"/>
          <p:cNvSpPr/>
          <p:nvPr/>
        </p:nvSpPr>
        <p:spPr>
          <a:xfrm>
            <a:off x="9753257" y="3822799"/>
            <a:ext cx="182885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 opt [Bệnh nhân yêu cầu in]: gửi lệnh in hóa đơn ra giấy.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968656" y="6494463"/>
            <a:ext cx="122303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10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55637"/>
            <a:ext cx="7213320" cy="31651"/>
          </a:xfrm>
          <a:prstGeom prst="roundRect">
            <a:avLst>
              <a:gd name="adj" fmla="val 49998"/>
            </a:avLst>
          </a:prstGeom>
          <a:solidFill>
            <a:srgbClr val="1F5FA8"/>
          </a:solidFill>
          <a:ln/>
        </p:spPr>
      </p:sp>
      <p:sp>
        <p:nvSpPr>
          <p:cNvPr id="3" name="Text 1"/>
          <p:cNvSpPr/>
          <p:nvPr/>
        </p:nvSpPr>
        <p:spPr>
          <a:xfrm>
            <a:off x="7975400" y="609600"/>
            <a:ext cx="36067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150" spc="23" kern="0" dirty="0">
                <a:solidFill>
                  <a:srgbClr val="1F5FA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DentCare · OOAD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9585" y="926405"/>
            <a:ext cx="10972526" cy="50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spc="-17" kern="0" dirty="0">
                <a:solidFill>
                  <a:srgbClr val="232323"/>
                </a:solidFill>
                <a:latin typeface="Noto Serif Display SemiBold" pitchFamily="34" charset="0"/>
                <a:ea typeface="Noto Serif Display SemiBold" pitchFamily="34" charset="-122"/>
                <a:cs typeface="Noto Serif Display SemiBold" pitchFamily="34" charset="-120"/>
              </a:rPr>
              <a:t>Ràng buộc, Phân quyền (RBAC) &amp; Báo cáo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626394"/>
            <a:ext cx="3855643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Validation đầu vào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09585" y="2076549"/>
            <a:ext cx="3855643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 điện thoại đúng 10 số (bắt đầu bằng 0); Ngày sinh ≤ Ngày hiện tại; Ngày hẹn ≥ Ngày hiện tại; Đơn giá &gt; 0, số lượng ≥ 1.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585" y="5656957"/>
            <a:ext cx="3855643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5C5C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Liên kết lưu trữ dự án: toàn bộ bản vẽ UML và tài liệu đặc tả được đưa lên GitHub tại [Link Repository].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22317" y="1626394"/>
            <a:ext cx="6659793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23232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 quyền truy cập (RBAC)</a:t>
            </a:r>
            <a:endParaRPr lang="en-US" sz="1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22317" y="2076549"/>
          <a:ext cx="9143771" cy="914400"/>
        </p:xfrm>
        <a:graphic>
          <a:graphicData uri="http://schemas.openxmlformats.org/drawingml/2006/table">
            <a:tbl>
              <a:tblPr/>
              <a:tblGrid>
                <a:gridCol w="1775945"/>
                <a:gridCol w="4883848"/>
              </a:tblGrid>
              <a:tr h="412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Vai trò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Quyền truy cập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Bệnh nhân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chỉ xem lịch và hồ sơ cá nhân.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40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Lễ tân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toàn quyền quản lý Lịch hẹn &amp; Hóa đơn; chỉ xem hồ sơ bệnh án.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40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Nha sĩ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toàn quyền ghi nhận Hồ sơ khám; chỉ xem lịch làm việc của mình.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76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Quản lý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toàn quyền cấu hình Dịch vụ và xem Báo cáo doanh thu theo kỳ.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0968656" y="6494463"/>
            <a:ext cx="122303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10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2026-09-22T17:36:23Z</dcterms:created>
  <dcterms:modified xsi:type="dcterms:W3CDTF">2026-09-22T17:36:23Z</dcterms:modified>
</cp:coreProperties>
</file>